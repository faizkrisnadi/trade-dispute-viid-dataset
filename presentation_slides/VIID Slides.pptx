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1" r:id="rId7"/>
    <p:sldId id="271" r:id="rId8"/>
    <p:sldId id="263" r:id="rId9"/>
    <p:sldId id="264" r:id="rId10"/>
    <p:sldId id="265" r:id="rId11"/>
    <p:sldId id="272" r:id="rId12"/>
    <p:sldId id="267" r:id="rId13"/>
    <p:sldId id="268" r:id="rId14"/>
    <p:sldId id="269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86B"/>
    <a:srgbClr val="FD5D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9"/>
    <p:restoredTop sz="94645"/>
  </p:normalViewPr>
  <p:slideViewPr>
    <p:cSldViewPr snapToGrid="0">
      <p:cViewPr varScale="1">
        <p:scale>
          <a:sx n="106" d="100"/>
          <a:sy n="106" d="100"/>
        </p:scale>
        <p:origin x="2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65E4B0-6853-4D37-9685-F7567CBF18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DD281E-801F-41A5-A02F-6EBD810C8FC9}">
      <dgm:prSet/>
      <dgm:spPr/>
      <dgm:t>
        <a:bodyPr/>
        <a:lstStyle/>
        <a:p>
          <a:r>
            <a:rPr lang="en-US" b="0" i="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The paralysis of the WTO Appellate Body, combined with rising geopolitical risk, nudges weaker states toward faster yet softer alternatives.</a:t>
          </a:r>
          <a:endParaRPr lang="en-US" dirty="0">
            <a:latin typeface="Gill Sans Nova Light" panose="020F0302020204030204" pitchFamily="34" charset="0"/>
            <a:cs typeface="Gill Sans Nova Light" panose="020F0302020204030204" pitchFamily="34" charset="0"/>
          </a:endParaRPr>
        </a:p>
      </dgm:t>
    </dgm:pt>
    <dgm:pt modelId="{5E70FADD-F587-46FF-B017-9E8D783129CA}" type="parTrans" cxnId="{22538B6C-1510-4A2C-806D-BA79466C1D39}">
      <dgm:prSet/>
      <dgm:spPr/>
      <dgm:t>
        <a:bodyPr/>
        <a:lstStyle/>
        <a:p>
          <a:endParaRPr lang="en-US"/>
        </a:p>
      </dgm:t>
    </dgm:pt>
    <dgm:pt modelId="{9A799806-A5EA-4205-BC9D-A2811C78DC51}" type="sibTrans" cxnId="{22538B6C-1510-4A2C-806D-BA79466C1D39}">
      <dgm:prSet/>
      <dgm:spPr/>
      <dgm:t>
        <a:bodyPr/>
        <a:lstStyle/>
        <a:p>
          <a:endParaRPr lang="en-US"/>
        </a:p>
      </dgm:t>
    </dgm:pt>
    <dgm:pt modelId="{86082D37-CC9C-4048-B743-E3913ED78171}">
      <dgm:prSet/>
      <dgm:spPr/>
      <dgm:t>
        <a:bodyPr/>
        <a:lstStyle/>
        <a:p>
          <a:r>
            <a:rPr lang="en-US" b="1" i="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The Challenge:</a:t>
          </a:r>
          <a:r>
            <a:rPr lang="en-US" b="0" i="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 To avoid reverting to pure power politics, developing economies must actively manage this new reality.</a:t>
          </a:r>
          <a:endParaRPr lang="en-US" dirty="0">
            <a:latin typeface="Gill Sans Nova Light" panose="020F0302020204030204" pitchFamily="34" charset="0"/>
            <a:cs typeface="Gill Sans Nova Light" panose="020F0302020204030204" pitchFamily="34" charset="0"/>
          </a:endParaRPr>
        </a:p>
      </dgm:t>
    </dgm:pt>
    <dgm:pt modelId="{0B2AD6B9-C19E-43BD-A021-69EBBCE925E9}" type="parTrans" cxnId="{5253A2AA-BD71-4AB1-8398-7D08DAEBAAEE}">
      <dgm:prSet/>
      <dgm:spPr/>
      <dgm:t>
        <a:bodyPr/>
        <a:lstStyle/>
        <a:p>
          <a:endParaRPr lang="en-US"/>
        </a:p>
      </dgm:t>
    </dgm:pt>
    <dgm:pt modelId="{470FEA89-EDEA-49F0-B518-6E9AC62A325F}" type="sibTrans" cxnId="{5253A2AA-BD71-4AB1-8398-7D08DAEBAAEE}">
      <dgm:prSet/>
      <dgm:spPr/>
      <dgm:t>
        <a:bodyPr/>
        <a:lstStyle/>
        <a:p>
          <a:endParaRPr lang="en-US"/>
        </a:p>
      </dgm:t>
    </dgm:pt>
    <dgm:pt modelId="{DDB2F298-1CD2-4B87-A1BA-3EF491983FBA}">
      <dgm:prSet/>
      <dgm:spPr/>
      <dgm:t>
        <a:bodyPr/>
        <a:lstStyle/>
        <a:p>
          <a:r>
            <a:rPr lang="en-US" b="1" i="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The Path Forward:</a:t>
          </a:r>
          <a:r>
            <a:rPr lang="en-US" b="0" i="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 Strengthen alternative fora and leverage coalitions in the near term, while relentlessly pushing for the multilateral reform necessary to restore a rules-based order.</a:t>
          </a:r>
          <a:endParaRPr lang="en-US" dirty="0">
            <a:latin typeface="Gill Sans Nova Light" panose="020F0302020204030204" pitchFamily="34" charset="0"/>
            <a:cs typeface="Gill Sans Nova Light" panose="020F0302020204030204" pitchFamily="34" charset="0"/>
          </a:endParaRPr>
        </a:p>
      </dgm:t>
    </dgm:pt>
    <dgm:pt modelId="{805A3ED8-7188-4357-BDA3-80AED1C2F70D}" type="parTrans" cxnId="{60925097-91B4-414A-BDD2-10705F5C74D3}">
      <dgm:prSet/>
      <dgm:spPr/>
      <dgm:t>
        <a:bodyPr/>
        <a:lstStyle/>
        <a:p>
          <a:endParaRPr lang="en-US"/>
        </a:p>
      </dgm:t>
    </dgm:pt>
    <dgm:pt modelId="{F9DD6045-E46C-46A9-AB4D-C92183A5F556}" type="sibTrans" cxnId="{60925097-91B4-414A-BDD2-10705F5C74D3}">
      <dgm:prSet/>
      <dgm:spPr/>
      <dgm:t>
        <a:bodyPr/>
        <a:lstStyle/>
        <a:p>
          <a:endParaRPr lang="en-US"/>
        </a:p>
      </dgm:t>
    </dgm:pt>
    <dgm:pt modelId="{B6D12AD1-948C-6744-9EA1-96C150732B30}" type="pres">
      <dgm:prSet presAssocID="{BF65E4B0-6853-4D37-9685-F7567CBF1801}" presName="linear" presStyleCnt="0">
        <dgm:presLayoutVars>
          <dgm:animLvl val="lvl"/>
          <dgm:resizeHandles val="exact"/>
        </dgm:presLayoutVars>
      </dgm:prSet>
      <dgm:spPr/>
    </dgm:pt>
    <dgm:pt modelId="{4D7659CB-CCE9-104B-A566-B82B7437F11C}" type="pres">
      <dgm:prSet presAssocID="{D5DD281E-801F-41A5-A02F-6EBD810C8FC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858E6D3-33D3-8C4D-A7F2-365AA8EC3748}" type="pres">
      <dgm:prSet presAssocID="{9A799806-A5EA-4205-BC9D-A2811C78DC51}" presName="spacer" presStyleCnt="0"/>
      <dgm:spPr/>
    </dgm:pt>
    <dgm:pt modelId="{09DDF468-1781-D24D-A28F-24EED0478E6F}" type="pres">
      <dgm:prSet presAssocID="{86082D37-CC9C-4048-B743-E3913ED7817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25B93EA-2DB0-C847-B5B3-822C38D7FECE}" type="pres">
      <dgm:prSet presAssocID="{470FEA89-EDEA-49F0-B518-6E9AC62A325F}" presName="spacer" presStyleCnt="0"/>
      <dgm:spPr/>
    </dgm:pt>
    <dgm:pt modelId="{13F47DED-728F-224E-A557-1AC6B2F8F292}" type="pres">
      <dgm:prSet presAssocID="{DDB2F298-1CD2-4B87-A1BA-3EF491983FB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FC97F2F-8CF3-2343-86F6-7CEC8BFF6346}" type="presOf" srcId="{86082D37-CC9C-4048-B743-E3913ED78171}" destId="{09DDF468-1781-D24D-A28F-24EED0478E6F}" srcOrd="0" destOrd="0" presId="urn:microsoft.com/office/officeart/2005/8/layout/vList2"/>
    <dgm:cxn modelId="{3C5D4A3D-17AD-7348-B57D-1F8FB223302E}" type="presOf" srcId="{BF65E4B0-6853-4D37-9685-F7567CBF1801}" destId="{B6D12AD1-948C-6744-9EA1-96C150732B30}" srcOrd="0" destOrd="0" presId="urn:microsoft.com/office/officeart/2005/8/layout/vList2"/>
    <dgm:cxn modelId="{22538B6C-1510-4A2C-806D-BA79466C1D39}" srcId="{BF65E4B0-6853-4D37-9685-F7567CBF1801}" destId="{D5DD281E-801F-41A5-A02F-6EBD810C8FC9}" srcOrd="0" destOrd="0" parTransId="{5E70FADD-F587-46FF-B017-9E8D783129CA}" sibTransId="{9A799806-A5EA-4205-BC9D-A2811C78DC51}"/>
    <dgm:cxn modelId="{93450892-9BE3-F64C-80FE-F5AE91CEEE54}" type="presOf" srcId="{D5DD281E-801F-41A5-A02F-6EBD810C8FC9}" destId="{4D7659CB-CCE9-104B-A566-B82B7437F11C}" srcOrd="0" destOrd="0" presId="urn:microsoft.com/office/officeart/2005/8/layout/vList2"/>
    <dgm:cxn modelId="{60925097-91B4-414A-BDD2-10705F5C74D3}" srcId="{BF65E4B0-6853-4D37-9685-F7567CBF1801}" destId="{DDB2F298-1CD2-4B87-A1BA-3EF491983FBA}" srcOrd="2" destOrd="0" parTransId="{805A3ED8-7188-4357-BDA3-80AED1C2F70D}" sibTransId="{F9DD6045-E46C-46A9-AB4D-C92183A5F556}"/>
    <dgm:cxn modelId="{928C999A-71B2-984F-B53A-A5C6F6BCD040}" type="presOf" srcId="{DDB2F298-1CD2-4B87-A1BA-3EF491983FBA}" destId="{13F47DED-728F-224E-A557-1AC6B2F8F292}" srcOrd="0" destOrd="0" presId="urn:microsoft.com/office/officeart/2005/8/layout/vList2"/>
    <dgm:cxn modelId="{5253A2AA-BD71-4AB1-8398-7D08DAEBAAEE}" srcId="{BF65E4B0-6853-4D37-9685-F7567CBF1801}" destId="{86082D37-CC9C-4048-B743-E3913ED78171}" srcOrd="1" destOrd="0" parTransId="{0B2AD6B9-C19E-43BD-A021-69EBBCE925E9}" sibTransId="{470FEA89-EDEA-49F0-B518-6E9AC62A325F}"/>
    <dgm:cxn modelId="{DDA0E55C-B912-EC48-B4A4-84D1D44B5CC0}" type="presParOf" srcId="{B6D12AD1-948C-6744-9EA1-96C150732B30}" destId="{4D7659CB-CCE9-104B-A566-B82B7437F11C}" srcOrd="0" destOrd="0" presId="urn:microsoft.com/office/officeart/2005/8/layout/vList2"/>
    <dgm:cxn modelId="{977A47AE-D3F2-314C-A6AA-DA5B8470551A}" type="presParOf" srcId="{B6D12AD1-948C-6744-9EA1-96C150732B30}" destId="{E858E6D3-33D3-8C4D-A7F2-365AA8EC3748}" srcOrd="1" destOrd="0" presId="urn:microsoft.com/office/officeart/2005/8/layout/vList2"/>
    <dgm:cxn modelId="{8C7CFB57-2B9D-B943-A24E-7ADFE4E8DF00}" type="presParOf" srcId="{B6D12AD1-948C-6744-9EA1-96C150732B30}" destId="{09DDF468-1781-D24D-A28F-24EED0478E6F}" srcOrd="2" destOrd="0" presId="urn:microsoft.com/office/officeart/2005/8/layout/vList2"/>
    <dgm:cxn modelId="{34ADCF80-DBCD-5B40-850C-C051719FE470}" type="presParOf" srcId="{B6D12AD1-948C-6744-9EA1-96C150732B30}" destId="{C25B93EA-2DB0-C847-B5B3-822C38D7FECE}" srcOrd="3" destOrd="0" presId="urn:microsoft.com/office/officeart/2005/8/layout/vList2"/>
    <dgm:cxn modelId="{41E9F348-83A3-C74E-8678-1B27AD957C47}" type="presParOf" srcId="{B6D12AD1-948C-6744-9EA1-96C150732B30}" destId="{13F47DED-728F-224E-A557-1AC6B2F8F29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659CB-CCE9-104B-A566-B82B7437F11C}">
      <dsp:nvSpPr>
        <dsp:cNvPr id="0" name=""/>
        <dsp:cNvSpPr/>
      </dsp:nvSpPr>
      <dsp:spPr>
        <a:xfrm>
          <a:off x="0" y="32028"/>
          <a:ext cx="9639925" cy="12438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The paralysis of the WTO Appellate Body, combined with rising geopolitical risk, nudges weaker states toward faster yet softer alternatives.</a:t>
          </a:r>
          <a:endParaRPr lang="en-US" sz="2100" kern="1200" dirty="0">
            <a:latin typeface="Gill Sans Nova Light" panose="020F0302020204030204" pitchFamily="34" charset="0"/>
            <a:cs typeface="Gill Sans Nova Light" panose="020F0302020204030204" pitchFamily="34" charset="0"/>
          </a:endParaRPr>
        </a:p>
      </dsp:txBody>
      <dsp:txXfrm>
        <a:off x="60720" y="92748"/>
        <a:ext cx="9518485" cy="1122416"/>
      </dsp:txXfrm>
    </dsp:sp>
    <dsp:sp modelId="{09DDF468-1781-D24D-A28F-24EED0478E6F}">
      <dsp:nvSpPr>
        <dsp:cNvPr id="0" name=""/>
        <dsp:cNvSpPr/>
      </dsp:nvSpPr>
      <dsp:spPr>
        <a:xfrm>
          <a:off x="0" y="1336364"/>
          <a:ext cx="9639925" cy="12438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The Challenge:</a:t>
          </a:r>
          <a:r>
            <a:rPr lang="en-US" sz="2100" b="0" i="0" kern="120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 To avoid reverting to pure power politics, developing economies must actively manage this new reality.</a:t>
          </a:r>
          <a:endParaRPr lang="en-US" sz="2100" kern="1200" dirty="0">
            <a:latin typeface="Gill Sans Nova Light" panose="020F0302020204030204" pitchFamily="34" charset="0"/>
            <a:cs typeface="Gill Sans Nova Light" panose="020F0302020204030204" pitchFamily="34" charset="0"/>
          </a:endParaRPr>
        </a:p>
      </dsp:txBody>
      <dsp:txXfrm>
        <a:off x="60720" y="1397084"/>
        <a:ext cx="9518485" cy="1122416"/>
      </dsp:txXfrm>
    </dsp:sp>
    <dsp:sp modelId="{13F47DED-728F-224E-A557-1AC6B2F8F292}">
      <dsp:nvSpPr>
        <dsp:cNvPr id="0" name=""/>
        <dsp:cNvSpPr/>
      </dsp:nvSpPr>
      <dsp:spPr>
        <a:xfrm>
          <a:off x="0" y="2640700"/>
          <a:ext cx="9639925" cy="12438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The Path Forward:</a:t>
          </a:r>
          <a:r>
            <a:rPr lang="en-US" sz="2100" b="0" i="0" kern="1200" baseline="0" dirty="0">
              <a:latin typeface="Gill Sans Nova Light" panose="020F0302020204030204" pitchFamily="34" charset="0"/>
              <a:cs typeface="Gill Sans Nova Light" panose="020F0302020204030204" pitchFamily="34" charset="0"/>
            </a:rPr>
            <a:t> Strengthen alternative fora and leverage coalitions in the near term, while relentlessly pushing for the multilateral reform necessary to restore a rules-based order.</a:t>
          </a:r>
          <a:endParaRPr lang="en-US" sz="2100" kern="1200" dirty="0">
            <a:latin typeface="Gill Sans Nova Light" panose="020F0302020204030204" pitchFamily="34" charset="0"/>
            <a:cs typeface="Gill Sans Nova Light" panose="020F0302020204030204" pitchFamily="34" charset="0"/>
          </a:endParaRPr>
        </a:p>
      </dsp:txBody>
      <dsp:txXfrm>
        <a:off x="60720" y="2701420"/>
        <a:ext cx="9518485" cy="1122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C09E-8E3D-18E9-88E6-94F126411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B0194-060B-188E-A5E8-6C9C08A6E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BCCD7-F3ED-A0C6-E093-EF79DD692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6C5D9-7097-576A-990A-BFE89CD2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FB50B-370E-3CA2-11DB-D43BA34A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8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27B9-5DDB-DEC9-91EA-82C609B0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F316F-8CFA-B971-90D7-E79EA4DB0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A58E0-09D9-F94C-9237-63D0B830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27146-F3D2-78DC-5DC0-3BF85D34B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EBC32-7A99-9B85-C2EF-9905F271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5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7DB6-2A5B-F0FF-5F27-A5D9B086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57F03-B01B-F0B5-9539-04C410203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BDFFC-93F5-6D2C-731E-4D4A5BC11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E100D-7DA0-C6E5-F226-6A82766B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B34A0-6976-718A-CA90-CB22C34E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9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9507-5E86-EB04-E660-DA5654132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6AB38-8107-5CDE-4C98-9AC4B572F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B5244-9A59-F210-67C7-E452BF165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95B8D-3499-6A35-FD19-06E020263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8859B-024B-87CB-3972-085CA42F5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1E8DF-35B3-1030-0D04-763D67BA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5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6DDD-E313-C622-C501-94E51741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66E15-EAAA-BCDF-1DB6-957A1F13C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32811-6558-D557-8487-BC95DBEC3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38ABE7-C018-36FB-8E13-9CF98EEF7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6A44C-1D6F-C7DE-6DDF-FE6E78939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43C76-5492-62B0-0C6B-A8622546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61EAB-AA2C-0E36-2005-8D25EBC6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AECB6F-70FE-7D29-381A-BA878F9D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4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115D-F428-77AA-ED6E-F652896D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6DA41-1FB3-853F-3AFA-6C8A8D68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99E65-A67F-6603-A728-D3C585A2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ABE7F-E56A-1016-CA72-25E03349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33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3A1EF-7B05-80F2-C456-0D3DD534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1555D-9284-DE51-83C1-3A5A92FD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4B1E3-8898-6CEB-A665-F1AB0A79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5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BF10-964A-FB25-502F-86F4AE095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1EBEE-C210-9BB4-837A-E50095B65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35CBC-DFDE-1F03-C4DC-F9E363A3C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69576-87CE-587D-A4DF-DBA56548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C88BC-E072-4044-05D9-3B510E2D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39BBC-65F3-02CE-1195-5A9AC270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4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22E4-335C-0B38-8AA2-68A2F008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33F88-B283-88DD-2581-40B03D65C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D0460-0FA1-1DE4-5327-D320A8BA8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310BC-A9B7-3852-790E-7A89892A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AB230-3B21-D0A2-B070-CDFD6BC4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D7727-CAE8-EE37-1AE6-1CC8E221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7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72B2-0FAA-F7FB-8A91-907393F3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F0A38-F7C4-EECD-7315-ADD946881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E715A-742B-1F3F-22FA-911E67F71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95E97-6E2B-1672-0CB4-771A6A713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AE1DC-5FB5-D59E-2AC5-34C059AC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0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4D98E-6E4D-3ED0-C7F9-7851B6146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7458A-6DD1-9B8C-4A20-4449B5ECB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267A4-BA32-4289-DF65-8F891DB2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0FD45-F7F9-F662-6EE7-37CFFE2E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2C44A-0FBB-9CF3-2E94-E7DF33F8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3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94FAF-DFEE-69C8-7FB5-6AA2B8628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8423C-2444-10AF-DBD7-CF37FE5EC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9C5D9-5434-7200-0C00-0911B21F2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83FC1-2F51-4140-83AB-2F31E15875A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98789-5A1B-C42B-9988-E260876DF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387D-02AD-E995-E15C-C9A91F2A9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196D9-463E-664A-B761-7D3C418E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4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BC6A-788C-484E-A86B-59E1B6230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87563"/>
            <a:ext cx="9144000" cy="1341437"/>
          </a:xfrm>
        </p:spPr>
        <p:txBody>
          <a:bodyPr anchor="ctr">
            <a:normAutofit fontScale="90000"/>
          </a:bodyPr>
          <a:lstStyle/>
          <a:p>
            <a:r>
              <a:rPr lang="en-ID" sz="32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Shrinking Space for WTO Dispute Settlement: Geopolitics, Forum Shopping, and Lessons for Developing Economies</a:t>
            </a:r>
            <a:endParaRPr lang="en-US" sz="32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94997-CE82-6C75-A2A2-480A0B884623}"/>
              </a:ext>
            </a:extLst>
          </p:cNvPr>
          <p:cNvSpPr txBox="1"/>
          <p:nvPr/>
        </p:nvSpPr>
        <p:spPr>
          <a:xfrm>
            <a:off x="235698" y="5880954"/>
            <a:ext cx="599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Presented by M. Faiz </a:t>
            </a:r>
            <a:r>
              <a:rPr lang="en-US" dirty="0" err="1">
                <a:latin typeface="Gill Sans Nova Light" panose="020F0302020204030204" pitchFamily="34" charset="0"/>
                <a:cs typeface="Gill Sans Nova Light" panose="020F0302020204030204" pitchFamily="34" charset="0"/>
              </a:rPr>
              <a:t>Krisnadi</a:t>
            </a:r>
            <a:endParaRPr lang="en-US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2CEF9-3FC9-B4D2-C2D1-DCD420116A7D}"/>
              </a:ext>
            </a:extLst>
          </p:cNvPr>
          <p:cNvSpPr txBox="1"/>
          <p:nvPr/>
        </p:nvSpPr>
        <p:spPr>
          <a:xfrm>
            <a:off x="235698" y="6250286"/>
            <a:ext cx="2576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Friday, 12 December 2025</a:t>
            </a:r>
          </a:p>
        </p:txBody>
      </p:sp>
      <p:pic>
        <p:nvPicPr>
          <p:cNvPr id="2054" name="Picture 6" descr="NUS Lee Kuan Yew School of Public Policy - Postgrad">
            <a:extLst>
              <a:ext uri="{FF2B5EF4-FFF2-40B4-BE49-F238E27FC236}">
                <a16:creationId xmlns:a16="http://schemas.microsoft.com/office/drawing/2014/main" id="{2EF8391B-C51B-F57B-9553-352D85532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8212204" y="5880954"/>
            <a:ext cx="3744098" cy="80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665D9F-D86E-40B8-415B-8BF4210488DC}"/>
              </a:ext>
            </a:extLst>
          </p:cNvPr>
          <p:cNvSpPr txBox="1"/>
          <p:nvPr/>
        </p:nvSpPr>
        <p:spPr>
          <a:xfrm>
            <a:off x="3686961" y="3429000"/>
            <a:ext cx="4818075" cy="368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Authors: M. Faiz </a:t>
            </a:r>
            <a:r>
              <a:rPr lang="en-US" dirty="0" err="1">
                <a:latin typeface="Gill Sans Nova Light" panose="020F0302020204030204" pitchFamily="34" charset="0"/>
                <a:cs typeface="Gill Sans Nova Light" panose="020F0302020204030204" pitchFamily="34" charset="0"/>
              </a:rPr>
              <a:t>Krisnadi</a:t>
            </a:r>
            <a:r>
              <a:rPr lang="en-US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&amp; Dama Rifki A.</a:t>
            </a:r>
          </a:p>
        </p:txBody>
      </p:sp>
    </p:spTree>
    <p:extLst>
      <p:ext uri="{BB962C8B-B14F-4D97-AF65-F5344CB8AC3E}">
        <p14:creationId xmlns:p14="http://schemas.microsoft.com/office/powerpoint/2010/main" val="1248224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A close-up of a stone wall&#10;&#10;AI-generated content may be incorrect.">
            <a:extLst>
              <a:ext uri="{FF2B5EF4-FFF2-40B4-BE49-F238E27FC236}">
                <a16:creationId xmlns:a16="http://schemas.microsoft.com/office/drawing/2014/main" id="{A9532C8B-2088-5E88-E27E-8C5F510C7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" r="1" b="1"/>
          <a:stretch>
            <a:fillRect/>
          </a:stretch>
        </p:blipFill>
        <p:spPr bwMode="auto">
          <a:xfrm>
            <a:off x="2844434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70966-2ACC-624E-849B-C7C4A2D5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42" y="365115"/>
            <a:ext cx="4572000" cy="123508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Table of Contents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DA55DF-A76A-B8B1-F611-B671D8E030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2042" y="1653106"/>
            <a:ext cx="4279958" cy="42278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Context &amp; Dilemma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Theoretical Framework &amp; Methodology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Case Evidence: A Tale of Three Disputes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Indonesia-EU (Palm Oil)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USA-India (Solar Cells)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Philippines-China (Bananas)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Synthesis of Mechanisms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Policy Implications &amp; Conclusion</a:t>
            </a:r>
          </a:p>
        </p:txBody>
      </p:sp>
      <p:pic>
        <p:nvPicPr>
          <p:cNvPr id="5" name="Picture 6" descr="NUS Lee Kuan Yew School of Public Policy - Postgrad">
            <a:extLst>
              <a:ext uri="{FF2B5EF4-FFF2-40B4-BE49-F238E27FC236}">
                <a16:creationId xmlns:a16="http://schemas.microsoft.com/office/drawing/2014/main" id="{C08D4C93-4FB6-7F15-C6C5-5E77324E9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87323-9F05-D556-D7AD-EDFD6743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486" y="1076324"/>
            <a:ext cx="4555781" cy="1139191"/>
          </a:xfrm>
        </p:spPr>
        <p:txBody>
          <a:bodyPr anchor="t">
            <a:normAutofit/>
          </a:bodyPr>
          <a:lstStyle/>
          <a:p>
            <a:r>
              <a:rPr lang="en-ID" sz="32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Context: A "Shrinking Legal Space”</a:t>
            </a:r>
            <a:endParaRPr lang="en-US" sz="3200" b="1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3075" name="Picture 3" descr="America defanged WTO. India wants its fangs back - The Economic Times">
            <a:extLst>
              <a:ext uri="{FF2B5EF4-FFF2-40B4-BE49-F238E27FC236}">
                <a16:creationId xmlns:a16="http://schemas.microsoft.com/office/drawing/2014/main" id="{1C34A767-2D28-9C2E-E102-753989D7A9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" r="-2" b="-2"/>
          <a:stretch>
            <a:fillRect/>
          </a:stretch>
        </p:blipFill>
        <p:spPr bwMode="auto">
          <a:xfrm>
            <a:off x="-11006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090CD3-0D16-59C4-A604-A3F38C87B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60427" y="1536186"/>
            <a:ext cx="4555782" cy="53218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Institutional Crisis: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Since Dec 2019, the WTO Appellate Body (AB) has been paralyzed (appointments blocked).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Result: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Losing parties can "appeal into the void,"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neutralising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panel reports and leaving no final ruling.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Geopolitical Shift: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Resurgence of protectionism driven by rivalry (e.g., US-China), national security claims, and industrial policy.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Large economies increasingly rely on unilateral instruments or bilateral deals.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Bottom line: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The rules-based order is fragmenting, squeezing options for smaller economies.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4098F2-CEC3-8287-DF86-058D4E3B7178}"/>
              </a:ext>
            </a:extLst>
          </p:cNvPr>
          <p:cNvSpPr txBox="1">
            <a:spLocks/>
          </p:cNvSpPr>
          <p:nvPr/>
        </p:nvSpPr>
        <p:spPr>
          <a:xfrm>
            <a:off x="6632888" y="413763"/>
            <a:ext cx="4683321" cy="9753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2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WTO's "Crown Jewel" is under dual pressure</a:t>
            </a:r>
            <a:endParaRPr lang="en-US" sz="24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6" name="Picture 6" descr="NUS Lee Kuan Yew School of Public Policy - Postgrad">
            <a:extLst>
              <a:ext uri="{FF2B5EF4-FFF2-40B4-BE49-F238E27FC236}">
                <a16:creationId xmlns:a16="http://schemas.microsoft.com/office/drawing/2014/main" id="{758C2E63-28DA-A5DE-C0E8-4A97DB7B78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392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50DA9-068A-D753-8306-4715553D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52" y="1245886"/>
            <a:ext cx="10515600" cy="369332"/>
          </a:xfrm>
        </p:spPr>
        <p:txBody>
          <a:bodyPr>
            <a:noAutofit/>
          </a:bodyPr>
          <a:lstStyle/>
          <a:p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When the multilateral system stalls, weaker members face a strategic dilemma.</a:t>
            </a:r>
            <a:endParaRPr lang="en-US" sz="20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FD25FC-CE98-3C44-A95F-C2FA1C3B6E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4552" y="1615218"/>
            <a:ext cx="8830620" cy="4433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Developing Countries remain active users of the DSU to challenge unfair practices by larger partners.</a:t>
            </a:r>
            <a:endParaRPr lang="en-US" altLang="en-US" sz="20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Strategic Choice: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Stay in the broken WTO?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Pros: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Legally binding, compulsory jurisdiction, cross-retaliation leverage.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Cons: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Slow, uncertain finality due to AB paralysis.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"Forum Shop" elsewhere (RTAs/Ad Hoc)?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Pros: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Potentially faster resolution.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Cons: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Often "softer" enforcement; risks reverting to power politics.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At Stake: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Not just individual disputes, but the integrity of the rules-based system.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E832E-6E8D-BB3E-2656-2F1AA43F8439}"/>
              </a:ext>
            </a:extLst>
          </p:cNvPr>
          <p:cNvSpPr txBox="1"/>
          <p:nvPr/>
        </p:nvSpPr>
        <p:spPr>
          <a:xfrm>
            <a:off x="234552" y="299369"/>
            <a:ext cx="7466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Dilemma for Developing Economies</a:t>
            </a:r>
            <a:endParaRPr lang="en-US" sz="36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96D1EE-74ED-F6D7-F556-2B6A8206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572"/>
          <a:stretch>
            <a:fillRect/>
          </a:stretch>
        </p:blipFill>
        <p:spPr>
          <a:xfrm>
            <a:off x="7889614" y="2471097"/>
            <a:ext cx="4067834" cy="1915806"/>
          </a:xfrm>
          <a:prstGeom prst="rect">
            <a:avLst/>
          </a:prstGeom>
        </p:spPr>
      </p:pic>
      <p:pic>
        <p:nvPicPr>
          <p:cNvPr id="9" name="Picture 6" descr="NUS Lee Kuan Yew School of Public Policy - Postgrad">
            <a:extLst>
              <a:ext uri="{FF2B5EF4-FFF2-40B4-BE49-F238E27FC236}">
                <a16:creationId xmlns:a16="http://schemas.microsoft.com/office/drawing/2014/main" id="{5B3619B1-A3E5-8EDA-B24F-870EF3236D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81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B09C1-0834-CBAD-FAEB-783E2428D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83" t="3863" r="28193" b="3477"/>
          <a:stretch>
            <a:fillRect/>
          </a:stretch>
        </p:blipFill>
        <p:spPr>
          <a:xfrm>
            <a:off x="3938094" y="1165138"/>
            <a:ext cx="4077263" cy="454669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FF2A47-3943-E570-3E83-CF19F909473A}"/>
              </a:ext>
            </a:extLst>
          </p:cNvPr>
          <p:cNvSpPr txBox="1"/>
          <p:nvPr/>
        </p:nvSpPr>
        <p:spPr>
          <a:xfrm>
            <a:off x="4413101" y="857361"/>
            <a:ext cx="33657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Trigger Event: Trade Injury</a:t>
            </a:r>
            <a:endParaRPr lang="en-US" sz="14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D25C8-369E-D72F-F383-F8F159A3181C}"/>
              </a:ext>
            </a:extLst>
          </p:cNvPr>
          <p:cNvSpPr txBox="1"/>
          <p:nvPr/>
        </p:nvSpPr>
        <p:spPr>
          <a:xfrm>
            <a:off x="6718559" y="3033274"/>
            <a:ext cx="3182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Geopolitical Filter</a:t>
            </a:r>
            <a:endParaRPr lang="en-US" sz="14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7C916-CC5D-40AD-745A-4BB7393CB7A4}"/>
              </a:ext>
            </a:extLst>
          </p:cNvPr>
          <p:cNvSpPr txBox="1"/>
          <p:nvPr/>
        </p:nvSpPr>
        <p:spPr>
          <a:xfrm>
            <a:off x="6739406" y="3317092"/>
            <a:ext cx="3757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(High Risk vs. Low Alignment)</a:t>
            </a:r>
            <a:endParaRPr lang="en-US" sz="12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6358E5-24E2-683A-502A-93B21EA13398}"/>
              </a:ext>
            </a:extLst>
          </p:cNvPr>
          <p:cNvSpPr txBox="1"/>
          <p:nvPr/>
        </p:nvSpPr>
        <p:spPr>
          <a:xfrm>
            <a:off x="2280269" y="3947841"/>
            <a:ext cx="2266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Low Risk /</a:t>
            </a:r>
          </a:p>
          <a:p>
            <a:pPr algn="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High Alignment</a:t>
            </a:r>
            <a:endParaRPr lang="en-US" sz="14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859949-CDF1-4385-CD42-0F433BDECA37}"/>
              </a:ext>
            </a:extLst>
          </p:cNvPr>
          <p:cNvSpPr txBox="1"/>
          <p:nvPr/>
        </p:nvSpPr>
        <p:spPr>
          <a:xfrm>
            <a:off x="3016160" y="5638882"/>
            <a:ext cx="3543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WTO Path</a:t>
            </a:r>
          </a:p>
          <a:p>
            <a:pPr algn="ct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(Formal)</a:t>
            </a:r>
            <a:endParaRPr lang="en-US" sz="14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6D3BF9-3CBE-773D-ED15-A313137D3FB3}"/>
              </a:ext>
            </a:extLst>
          </p:cNvPr>
          <p:cNvSpPr txBox="1"/>
          <p:nvPr/>
        </p:nvSpPr>
        <p:spPr>
          <a:xfrm>
            <a:off x="7708035" y="4005055"/>
            <a:ext cx="2601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High Risk /</a:t>
            </a:r>
          </a:p>
          <a:p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Low Alignment</a:t>
            </a:r>
            <a:endParaRPr lang="en-US" sz="14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65BCFF-8D70-CFEF-FA6B-FEEAD457FBC8}"/>
              </a:ext>
            </a:extLst>
          </p:cNvPr>
          <p:cNvSpPr txBox="1"/>
          <p:nvPr/>
        </p:nvSpPr>
        <p:spPr>
          <a:xfrm>
            <a:off x="6096000" y="5638882"/>
            <a:ext cx="2659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Forum Shopping</a:t>
            </a:r>
          </a:p>
          <a:p>
            <a:pPr algn="ct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(Exit)</a:t>
            </a:r>
            <a:endParaRPr lang="en-US" sz="14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26" name="Picture 25" descr="NUS Lee Kuan Yew School of Public Policy - Postgrad">
            <a:extLst>
              <a:ext uri="{FF2B5EF4-FFF2-40B4-BE49-F238E27FC236}">
                <a16:creationId xmlns:a16="http://schemas.microsoft.com/office/drawing/2014/main" id="{1A514737-DB51-BAD5-E579-053BA05F41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0C1C9F8A-B4CD-5FC8-6418-4FE93D3C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5344" y="3194716"/>
            <a:ext cx="2985653" cy="808067"/>
          </a:xfrm>
        </p:spPr>
        <p:txBody>
          <a:bodyPr>
            <a:normAutofit fontScale="90000"/>
          </a:bodyPr>
          <a:lstStyle/>
          <a:p>
            <a:pPr algn="r"/>
            <a:r>
              <a:rPr lang="en-ID" sz="32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Theoretical Framework &amp; Propositions</a:t>
            </a:r>
            <a:endParaRPr lang="en-US" sz="3200" b="1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943EE2-E5FE-9F5C-AC27-BE2EF11F6972}"/>
              </a:ext>
            </a:extLst>
          </p:cNvPr>
          <p:cNvCxnSpPr>
            <a:cxnSpLocks/>
          </p:cNvCxnSpPr>
          <p:nvPr/>
        </p:nvCxnSpPr>
        <p:spPr>
          <a:xfrm>
            <a:off x="2522359" y="2790701"/>
            <a:ext cx="0" cy="16150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3A97A85-5667-F279-07D1-F1DB4DBE9A30}"/>
              </a:ext>
            </a:extLst>
          </p:cNvPr>
          <p:cNvSpPr txBox="1"/>
          <p:nvPr/>
        </p:nvSpPr>
        <p:spPr>
          <a:xfrm>
            <a:off x="9555105" y="3280477"/>
            <a:ext cx="22515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 sz="16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P1: Timing Effect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P2: Venue Choice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P3: Enforcement Gap</a:t>
            </a:r>
            <a:endParaRPr lang="en-US" sz="16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E1F92E-5810-4E1D-FF19-79E0D47D7C48}"/>
              </a:ext>
            </a:extLst>
          </p:cNvPr>
          <p:cNvSpPr txBox="1"/>
          <p:nvPr/>
        </p:nvSpPr>
        <p:spPr>
          <a:xfrm>
            <a:off x="9513761" y="2903585"/>
            <a:ext cx="2054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Propositions (P)</a:t>
            </a:r>
            <a:endParaRPr lang="en-US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39" name="Snip Diagonal Corner Rectangle 38">
            <a:extLst>
              <a:ext uri="{FF2B5EF4-FFF2-40B4-BE49-F238E27FC236}">
                <a16:creationId xmlns:a16="http://schemas.microsoft.com/office/drawing/2014/main" id="{5BA578EB-B8B0-DADF-8184-0E3D04811C48}"/>
              </a:ext>
            </a:extLst>
          </p:cNvPr>
          <p:cNvSpPr/>
          <p:nvPr/>
        </p:nvSpPr>
        <p:spPr>
          <a:xfrm>
            <a:off x="9500137" y="2846590"/>
            <a:ext cx="2349158" cy="1495001"/>
          </a:xfrm>
          <a:prstGeom prst="snip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E83BEC0-17C3-906B-D060-30A8FCC8FE7C}"/>
              </a:ext>
            </a:extLst>
          </p:cNvPr>
          <p:cNvSpPr/>
          <p:nvPr/>
        </p:nvSpPr>
        <p:spPr>
          <a:xfrm>
            <a:off x="5944005" y="4266665"/>
            <a:ext cx="313484" cy="321941"/>
          </a:xfrm>
          <a:prstGeom prst="ellipse">
            <a:avLst/>
          </a:prstGeom>
          <a:solidFill>
            <a:srgbClr val="EFD8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7A1669C-7162-9C3A-0821-A95D3200C996}"/>
              </a:ext>
            </a:extLst>
          </p:cNvPr>
          <p:cNvSpPr/>
          <p:nvPr/>
        </p:nvSpPr>
        <p:spPr>
          <a:xfrm>
            <a:off x="6691122" y="3597816"/>
            <a:ext cx="313484" cy="321941"/>
          </a:xfrm>
          <a:prstGeom prst="ellipse">
            <a:avLst/>
          </a:prstGeom>
          <a:solidFill>
            <a:srgbClr val="EFD8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4EC1B3C-443F-FA3D-CFFF-FD28F67D7D1E}"/>
              </a:ext>
            </a:extLst>
          </p:cNvPr>
          <p:cNvSpPr/>
          <p:nvPr/>
        </p:nvSpPr>
        <p:spPr>
          <a:xfrm>
            <a:off x="5948041" y="5389892"/>
            <a:ext cx="313484" cy="321941"/>
          </a:xfrm>
          <a:prstGeom prst="ellipse">
            <a:avLst/>
          </a:prstGeom>
          <a:solidFill>
            <a:srgbClr val="EFD8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7D6707-5358-9E41-BE30-DA4319A6B2B4}"/>
              </a:ext>
            </a:extLst>
          </p:cNvPr>
          <p:cNvSpPr txBox="1"/>
          <p:nvPr/>
        </p:nvSpPr>
        <p:spPr>
          <a:xfrm>
            <a:off x="5912199" y="4273746"/>
            <a:ext cx="377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P2</a:t>
            </a:r>
            <a:endParaRPr 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A29563-417D-F149-6678-A23C671E30BA}"/>
              </a:ext>
            </a:extLst>
          </p:cNvPr>
          <p:cNvSpPr txBox="1"/>
          <p:nvPr/>
        </p:nvSpPr>
        <p:spPr>
          <a:xfrm>
            <a:off x="6673604" y="3611980"/>
            <a:ext cx="377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P1</a:t>
            </a:r>
            <a:endParaRPr lang="en-US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3D78A6-2156-7E3C-9A69-EE81257B9DA5}"/>
              </a:ext>
            </a:extLst>
          </p:cNvPr>
          <p:cNvSpPr txBox="1"/>
          <p:nvPr/>
        </p:nvSpPr>
        <p:spPr>
          <a:xfrm>
            <a:off x="5916235" y="5396973"/>
            <a:ext cx="377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9786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92DF-EAC6-C3DB-A8C2-2F4CE207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1298-FB28-7C39-E887-5F80864B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629" y="420068"/>
            <a:ext cx="6904742" cy="808067"/>
          </a:xfrm>
        </p:spPr>
        <p:txBody>
          <a:bodyPr>
            <a:normAutofit/>
          </a:bodyPr>
          <a:lstStyle/>
          <a:p>
            <a:pPr algn="ctr"/>
            <a:r>
              <a:rPr lang="en-ID" sz="32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Methodology &amp; Data Toolkit</a:t>
            </a:r>
            <a:endParaRPr lang="en-US" sz="3200" b="1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E93D3-84FD-EA56-E664-CFBDEFD8A660}"/>
              </a:ext>
            </a:extLst>
          </p:cNvPr>
          <p:cNvSpPr txBox="1"/>
          <p:nvPr/>
        </p:nvSpPr>
        <p:spPr>
          <a:xfrm>
            <a:off x="4161183" y="1440957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A Mixed-Methods Approach:</a:t>
            </a:r>
            <a:endParaRPr lang="en-US" sz="2000" b="1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15E2A7-0FED-1FF7-8A88-CE211EBFC5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61183" y="1996895"/>
            <a:ext cx="5561937" cy="132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Structured Focused Comparison (SFC) of three recent disputes.</a:t>
            </a:r>
          </a:p>
          <a:p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Exploratory small-N quantitative tests.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79985-44E0-7B08-48BD-E735BD838DD3}"/>
              </a:ext>
            </a:extLst>
          </p:cNvPr>
          <p:cNvSpPr txBox="1"/>
          <p:nvPr/>
        </p:nvSpPr>
        <p:spPr>
          <a:xfrm>
            <a:off x="4161183" y="3325464"/>
            <a:ext cx="7134531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D" sz="20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Key Data Sources:</a:t>
            </a:r>
            <a:endParaRPr lang="en-ID" sz="20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⚖️ </a:t>
            </a:r>
            <a:r>
              <a:rPr lang="en-ID" sz="20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WTO Dockets:</a:t>
            </a: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For reconstructing precise timelines (consultations, panels, reports).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📈 </a:t>
            </a:r>
            <a:r>
              <a:rPr lang="en-ID" sz="20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Caldara-Iacoviello GPR Index:</a:t>
            </a: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To measure geopolitical risk spikes.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🇺🇳 </a:t>
            </a:r>
            <a:r>
              <a:rPr lang="en-ID" sz="20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UNGA Voting Data (Bailey et al.):</a:t>
            </a: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To measure diplomatic alignment/divergence.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🚢 </a:t>
            </a:r>
            <a:r>
              <a:rPr lang="en-ID" sz="20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Trade Data (Comtrade/Eurostat):</a:t>
            </a: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To establish economic stakes.</a:t>
            </a:r>
          </a:p>
        </p:txBody>
      </p:sp>
      <p:pic>
        <p:nvPicPr>
          <p:cNvPr id="8" name="Picture 6" descr="NUS Lee Kuan Yew School of Public Policy - Postgrad">
            <a:extLst>
              <a:ext uri="{FF2B5EF4-FFF2-40B4-BE49-F238E27FC236}">
                <a16:creationId xmlns:a16="http://schemas.microsoft.com/office/drawing/2014/main" id="{7B41384C-B7B4-E0EC-92FF-FCDC054E1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924CBE-062B-A0EB-C1D4-914380364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604" y="1440957"/>
            <a:ext cx="2469995" cy="442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4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A097-F1CD-5463-382C-99326F08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4C1A-F78C-6114-D922-FDACE723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5542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Case Evidence Overview: A Tale of Three Disputes</a:t>
            </a:r>
            <a:endParaRPr lang="en-US" sz="32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7" name="Picture 6" descr="NUS Lee Kuan Yew School of Public Policy - Postgrad">
            <a:extLst>
              <a:ext uri="{FF2B5EF4-FFF2-40B4-BE49-F238E27FC236}">
                <a16:creationId xmlns:a16="http://schemas.microsoft.com/office/drawing/2014/main" id="{D73C1E31-E0AA-BD74-41CF-E53235B81C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99322A-D2E2-3ED5-F930-171122ACF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9601"/>
              </p:ext>
            </p:extLst>
          </p:nvPr>
        </p:nvGraphicFramePr>
        <p:xfrm>
          <a:off x="450759" y="1329267"/>
          <a:ext cx="11011440" cy="4424379"/>
        </p:xfrm>
        <a:graphic>
          <a:graphicData uri="http://schemas.openxmlformats.org/drawingml/2006/table">
            <a:tbl>
              <a:tblPr/>
              <a:tblGrid>
                <a:gridCol w="2752860">
                  <a:extLst>
                    <a:ext uri="{9D8B030D-6E8A-4147-A177-3AD203B41FA5}">
                      <a16:colId xmlns:a16="http://schemas.microsoft.com/office/drawing/2014/main" val="3718059635"/>
                    </a:ext>
                  </a:extLst>
                </a:gridCol>
                <a:gridCol w="2752860">
                  <a:extLst>
                    <a:ext uri="{9D8B030D-6E8A-4147-A177-3AD203B41FA5}">
                      <a16:colId xmlns:a16="http://schemas.microsoft.com/office/drawing/2014/main" val="3405651660"/>
                    </a:ext>
                  </a:extLst>
                </a:gridCol>
                <a:gridCol w="2752860">
                  <a:extLst>
                    <a:ext uri="{9D8B030D-6E8A-4147-A177-3AD203B41FA5}">
                      <a16:colId xmlns:a16="http://schemas.microsoft.com/office/drawing/2014/main" val="1663029786"/>
                    </a:ext>
                  </a:extLst>
                </a:gridCol>
                <a:gridCol w="2752860">
                  <a:extLst>
                    <a:ext uri="{9D8B030D-6E8A-4147-A177-3AD203B41FA5}">
                      <a16:colId xmlns:a16="http://schemas.microsoft.com/office/drawing/2014/main" val="1291074267"/>
                    </a:ext>
                  </a:extLst>
                </a:gridCol>
              </a:tblGrid>
              <a:tr h="6854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dirty="0"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Variable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dirty="0"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Case 1: Indonesia-EU 🌴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dirty="0"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Case 2: USA-India ☀️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dirty="0"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Case 3: Philippines-China 🍌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33020"/>
                  </a:ext>
                </a:extLst>
              </a:tr>
              <a:tr h="12219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Commodity Stake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(The Control)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High Stake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(Palm Oil, ~€2bn)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Strategic Stake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(Solar Precedent)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High Stake</a:t>
                      </a: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(Major Export)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398566"/>
                  </a:ext>
                </a:extLst>
              </a:tr>
              <a:tr h="12219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Geopolitics (IV)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(The Cause)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Low Risk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Moderate Alignment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Mod. Risk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High Alignment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High Risk</a:t>
                      </a: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Low Alignment</a:t>
                      </a: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93582"/>
                  </a:ext>
                </a:extLst>
              </a:tr>
              <a:tr h="12219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Venue Choice (DV)</a:t>
                      </a: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i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(The Result)</a:t>
                      </a: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✅ </a:t>
                      </a:r>
                      <a:r>
                        <a:rPr lang="en-ID" sz="18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WTO</a:t>
                      </a: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i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(Delayed)</a:t>
                      </a: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✅ </a:t>
                      </a:r>
                      <a:r>
                        <a:rPr lang="en-ID" sz="18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WTO</a:t>
                      </a: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i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(Fast)</a:t>
                      </a:r>
                      <a:endParaRPr lang="en-ID" sz="180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❌ </a:t>
                      </a:r>
                      <a:r>
                        <a:rPr lang="en-ID" sz="18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Exit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8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(No Filing)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111764" marR="111764" marT="74509" marB="7450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981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72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102C-141F-982F-026B-F9CFEAFC6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2" y="365126"/>
            <a:ext cx="10515600" cy="635000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Case 1 Analysis: Indonesia-EU (Palm Oil)</a:t>
            </a:r>
            <a:endParaRPr lang="en-US" sz="32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52C7710-3D3A-AD71-8B27-DD7749BBE6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642" y="1275151"/>
            <a:ext cx="10515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Stakes: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Key export for Indonesia (~€2bn/yr to EU).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Geopolitics: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Low GPR. Dispute driven by environmental/trade policy clashes, not high security.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Timeline &amp; Venue (WTO Path):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Trigger ('19) → Consultations (Dec '19)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[LONG DELAY: Paused waiting for AB reform]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→ Panel Est. (Jul '20) → Report (Jan '25).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Outcome: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Indonesia won the panel ruling. EU did not appeal.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Enforcement: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Legally "Strong," but the lack of appellate review weakens the deterrent effect pending compliance.</a:t>
            </a:r>
          </a:p>
        </p:txBody>
      </p:sp>
      <p:pic>
        <p:nvPicPr>
          <p:cNvPr id="7" name="Picture 6" descr="NUS Lee Kuan Yew School of Public Policy - Postgrad">
            <a:extLst>
              <a:ext uri="{FF2B5EF4-FFF2-40B4-BE49-F238E27FC236}">
                <a16:creationId xmlns:a16="http://schemas.microsoft.com/office/drawing/2014/main" id="{34F0454D-52F2-9DFD-0F34-A4DFE8FCD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B08EA9DC-530A-4A62-AFA5-1CAC54FAA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9774" y="22605"/>
            <a:ext cx="3775784" cy="20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418F508-1545-16CA-84A0-05DBECF0505E}"/>
              </a:ext>
            </a:extLst>
          </p:cNvPr>
          <p:cNvSpPr/>
          <p:nvPr/>
        </p:nvSpPr>
        <p:spPr>
          <a:xfrm>
            <a:off x="462642" y="4479235"/>
            <a:ext cx="10515600" cy="15917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E2DDFB-4BF5-C38B-9025-B8B09BA1F562}"/>
              </a:ext>
            </a:extLst>
          </p:cNvPr>
          <p:cNvSpPr txBox="1"/>
          <p:nvPr/>
        </p:nvSpPr>
        <p:spPr>
          <a:xfrm>
            <a:off x="568661" y="4536461"/>
            <a:ext cx="101921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Theoretical Implications: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✅ </a:t>
            </a:r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Supports P2 (Venue Choice):</a:t>
            </a: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Low Geopolitical Risk allowed Indonesia to utilize the formal WTO path despite the power asymmetry.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⚖️ </a:t>
            </a:r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Nuances P1 (Timing):</a:t>
            </a: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The observed delay was driven by </a:t>
            </a:r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institutional</a:t>
            </a: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uncertainty (waiting for AB reform), not the </a:t>
            </a:r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geopolitical fear</a:t>
            </a: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predicted by P1.</a:t>
            </a:r>
            <a:endParaRPr lang="en-US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09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594A-5FDE-5049-5333-B6E3DC23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1F47-0CA3-AD70-77BA-E6B0CD142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2" y="365126"/>
            <a:ext cx="10515600" cy="635000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Case 2 Analysis: USA-India (Solar)</a:t>
            </a:r>
            <a:endParaRPr lang="en-US" sz="32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7" name="Picture 6" descr="NUS Lee Kuan Yew School of Public Policy - Postgrad">
            <a:extLst>
              <a:ext uri="{FF2B5EF4-FFF2-40B4-BE49-F238E27FC236}">
                <a16:creationId xmlns:a16="http://schemas.microsoft.com/office/drawing/2014/main" id="{8F28FB5A-071D-1715-FC49-0673045C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DF1B6C9F-A7DD-81B7-FF28-594E730BC8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642" y="1471880"/>
            <a:ext cx="1009934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Stakes: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US export stake small, but strategically important to set precedent against localization.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Geopolitics: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Moderate GPR and Alignment between partners.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Timeline &amp; Venue (WTO Path):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Trigger → Consultations (Feb '13)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[Relatively FAST Process]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→ Panel/AB Report → Adoption (Oct '16).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Outcome: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India complied by removing the measure in 2017.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Enforcement Complexity: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US later imposed global safeguard tariffs ('18) unrelated to the dispute, eroding commercial gains.</a:t>
            </a:r>
          </a:p>
        </p:txBody>
      </p:sp>
      <p:pic>
        <p:nvPicPr>
          <p:cNvPr id="11269" name="Picture 5">
            <a:extLst>
              <a:ext uri="{FF2B5EF4-FFF2-40B4-BE49-F238E27FC236}">
                <a16:creationId xmlns:a16="http://schemas.microsoft.com/office/drawing/2014/main" id="{697B50A9-181D-EC86-6D22-8B3B410C4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521" y="-106628"/>
            <a:ext cx="3886579" cy="212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D7F0EC7-07D5-3B24-7D40-1243E14E4610}"/>
              </a:ext>
            </a:extLst>
          </p:cNvPr>
          <p:cNvSpPr/>
          <p:nvPr/>
        </p:nvSpPr>
        <p:spPr>
          <a:xfrm>
            <a:off x="462642" y="4637347"/>
            <a:ext cx="10515600" cy="15785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037B40-5CC6-1550-F67F-8C8360D03439}"/>
              </a:ext>
            </a:extLst>
          </p:cNvPr>
          <p:cNvSpPr txBox="1"/>
          <p:nvPr/>
        </p:nvSpPr>
        <p:spPr>
          <a:xfrm>
            <a:off x="585816" y="4687947"/>
            <a:ext cx="102692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Theoretical Implications: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✅ </a:t>
            </a:r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Supports P2 (Venue Choice):</a:t>
            </a: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High Diplomatic Alignment facilitated a standard, relatively fast WTO litigation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🔄 </a:t>
            </a:r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Complicates P3 (Enforcement Gap):</a:t>
            </a: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Demonstrates that "strong" legal enforcement does not guarantee commercial victory (gains were eroded by subsequent safeguards).</a:t>
            </a:r>
            <a:endParaRPr lang="en-US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00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4841-CF65-F864-4484-56361E6A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1745C-88AF-3804-EF72-ED4CA2CD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2" y="365126"/>
            <a:ext cx="10515600" cy="635000"/>
          </a:xfrm>
        </p:spPr>
        <p:txBody>
          <a:bodyPr>
            <a:normAutofit/>
          </a:bodyPr>
          <a:lstStyle/>
          <a:p>
            <a:r>
              <a:rPr lang="en-ID" sz="32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Case 3 Analysis: Philippines-China (Bananas)</a:t>
            </a:r>
            <a:endParaRPr lang="en-US" sz="3200" b="1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7" name="Picture 6" descr="NUS Lee Kuan Yew School of Public Policy - Postgrad">
            <a:extLst>
              <a:ext uri="{FF2B5EF4-FFF2-40B4-BE49-F238E27FC236}">
                <a16:creationId xmlns:a16="http://schemas.microsoft.com/office/drawing/2014/main" id="{ABDE905D-F681-151B-B256-318671FFE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1BEEF91-D108-49E1-EDF0-4DC875B17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642" y="1302381"/>
            <a:ext cx="901114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Stakes: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Major export to China. Single-buyer dependence increased vulnerability to coercion.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Geopolitics: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High GPR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 (Scarborough Shoal security crisis)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Low Alignment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Timeline &amp; Venue (Non-WTO Path):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Trigger (Mar '12)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[NO WTO FILING: Feared Retaliation/Escalation]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Shifted to political dialogue and market diversification.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Outcome: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Restrictions eased in 2016 only after a diplomatic thaw.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Enforcement: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cs typeface="Gill Sans Nova Light" panose="020F0302020204030204" pitchFamily="34" charset="0"/>
              </a:rPr>
              <a:t>"Weak." No formal ruling; solution dependent entirely on goodwill.</a:t>
            </a:r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27C2BF35-B9A7-46EF-FF3E-58BC1B01D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154656"/>
            <a:ext cx="3003621" cy="163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1950F8-3555-D989-74BF-3F58D2F4EFCA}"/>
              </a:ext>
            </a:extLst>
          </p:cNvPr>
          <p:cNvSpPr/>
          <p:nvPr/>
        </p:nvSpPr>
        <p:spPr>
          <a:xfrm>
            <a:off x="462642" y="4637347"/>
            <a:ext cx="10515600" cy="15785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44982-DCDA-8B77-E857-58CFA38E90E5}"/>
              </a:ext>
            </a:extLst>
          </p:cNvPr>
          <p:cNvSpPr txBox="1"/>
          <p:nvPr/>
        </p:nvSpPr>
        <p:spPr>
          <a:xfrm>
            <a:off x="636103" y="4826446"/>
            <a:ext cx="103421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Theoretical Implications: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✅ </a:t>
            </a:r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Strongly Confirms P1 (Timing):</a:t>
            </a: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High Security Risk caused "infinite delay" (total avoidance of filing a case).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✅ </a:t>
            </a:r>
            <a:r>
              <a:rPr lang="en-ID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Confirms P2 (Venue) &amp; P3 (Enforcement):</a:t>
            </a:r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 The forced shift to political channels resulted in a "soft," unenforceable outcome dependent on goodwill.</a:t>
            </a:r>
            <a:endParaRPr lang="en-US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389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4C04F-2878-C71B-FA44-DA3057E93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6AD1-1762-AD9B-027A-79CE2988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/>
          </a:bodyPr>
          <a:lstStyle/>
          <a:p>
            <a:r>
              <a:rPr lang="en-ID" sz="32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Results Synthesis &amp; Mechanisms</a:t>
            </a:r>
            <a:endParaRPr lang="en-US" sz="3200" b="1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38344-F1A0-EC57-C136-15AB0370E342}"/>
              </a:ext>
            </a:extLst>
          </p:cNvPr>
          <p:cNvSpPr txBox="1"/>
          <p:nvPr/>
        </p:nvSpPr>
        <p:spPr>
          <a:xfrm>
            <a:off x="838200" y="1019332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The "Secret Sauce": Why Geopolitics Matters.</a:t>
            </a:r>
            <a:endParaRPr lang="en-US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7" name="Picture 6" descr="NUS Lee Kuan Yew School of Public Policy - Postgrad">
            <a:extLst>
              <a:ext uri="{FF2B5EF4-FFF2-40B4-BE49-F238E27FC236}">
                <a16:creationId xmlns:a16="http://schemas.microsoft.com/office/drawing/2014/main" id="{5A0F6994-1F19-68E1-A3E2-AC42A9B8F7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B6DC31-0BA3-F7DC-3B20-810453C86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801227"/>
              </p:ext>
            </p:extLst>
          </p:nvPr>
        </p:nvGraphicFramePr>
        <p:xfrm>
          <a:off x="838200" y="1388664"/>
          <a:ext cx="8610600" cy="4728855"/>
        </p:xfrm>
        <a:graphic>
          <a:graphicData uri="http://schemas.openxmlformats.org/drawingml/2006/table">
            <a:tbl>
              <a:tblPr/>
              <a:tblGrid>
                <a:gridCol w="1606062">
                  <a:extLst>
                    <a:ext uri="{9D8B030D-6E8A-4147-A177-3AD203B41FA5}">
                      <a16:colId xmlns:a16="http://schemas.microsoft.com/office/drawing/2014/main" val="324319905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279686180"/>
                    </a:ext>
                  </a:extLst>
                </a:gridCol>
                <a:gridCol w="3727938">
                  <a:extLst>
                    <a:ext uri="{9D8B030D-6E8A-4147-A177-3AD203B41FA5}">
                      <a16:colId xmlns:a16="http://schemas.microsoft.com/office/drawing/2014/main" val="28367947"/>
                    </a:ext>
                  </a:extLst>
                </a:gridCol>
              </a:tblGrid>
              <a:tr h="651925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D" sz="12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12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Low Alignment</a:t>
                      </a:r>
                      <a:endParaRPr lang="en-ID" sz="12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12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High Alignment</a:t>
                      </a:r>
                      <a:endParaRPr lang="en-ID" sz="12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818559"/>
                  </a:ext>
                </a:extLst>
              </a:tr>
              <a:tr h="203846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12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High Risk</a:t>
                      </a:r>
                      <a:endParaRPr lang="en-ID" sz="12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4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THE EXIT ZONE</a:t>
                      </a:r>
                      <a: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⛔</a:t>
                      </a:r>
                      <a:b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(Forum Shopping)</a:t>
                      </a:r>
                      <a:b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Philippines-China </a:t>
                      </a:r>
                      <a: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🍌 </a:t>
                      </a:r>
                      <a:b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"Fear of Escalation dominates"</a:t>
                      </a: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5D5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4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(Theoretical Empty Zone)</a:t>
                      </a: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b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High risk but high trust is rare in trade disputes</a:t>
                      </a: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500306"/>
                  </a:ext>
                </a:extLst>
              </a:tr>
              <a:tr h="203846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12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Low Risk</a:t>
                      </a:r>
                      <a:endParaRPr lang="en-ID" sz="12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4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THE DELAY ZONE</a:t>
                      </a:r>
                      <a: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⏳</a:t>
                      </a:r>
                    </a:p>
                    <a:p>
                      <a:pPr rtl="0">
                        <a:buNone/>
                      </a:pP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(Institutional Wait)</a:t>
                      </a: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Indonesia-EU </a:t>
                      </a:r>
                      <a: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🌴 </a:t>
                      </a:r>
                    </a:p>
                    <a:p>
                      <a:pPr rtl="0">
                        <a:buNone/>
                      </a:pP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"Willing to sue, but stuck."</a:t>
                      </a: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86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4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THE WTO ZONE</a:t>
                      </a:r>
                      <a: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🏛️</a:t>
                      </a:r>
                      <a:b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(Standard Litigation)</a:t>
                      </a:r>
                      <a:b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</a:b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USA-India </a:t>
                      </a:r>
                      <a:r>
                        <a:rPr lang="en-ID" sz="14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☀️ </a:t>
                      </a:r>
                    </a:p>
                    <a:p>
                      <a:pPr rtl="0">
                        <a:buNone/>
                      </a:pP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D" sz="1400" i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"Trust allows legal battle."</a:t>
                      </a:r>
                      <a:endParaRPr lang="en-ID" sz="14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73502" marR="73502" marT="49002" marB="4900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767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76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72AA-060D-7E71-9D52-82691D38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/>
          </a:bodyPr>
          <a:lstStyle/>
          <a:p>
            <a:r>
              <a:rPr lang="en-ID" sz="32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Policy Implications for Developing Economies</a:t>
            </a:r>
            <a:endParaRPr lang="en-US" sz="3200" b="1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A7345B-A308-6A6C-C931-15FB337AB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779233"/>
              </p:ext>
            </p:extLst>
          </p:nvPr>
        </p:nvGraphicFramePr>
        <p:xfrm>
          <a:off x="838200" y="1349114"/>
          <a:ext cx="10515600" cy="4901782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661159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21572973"/>
                    </a:ext>
                  </a:extLst>
                </a:gridCol>
              </a:tblGrid>
              <a:tr h="553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000" b="1" dirty="0"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Near-Term Actions (Unilateral/Coalition)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000" b="1" dirty="0"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System-Level Reforms (Long-Term)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190619"/>
                  </a:ext>
                </a:extLst>
              </a:tr>
              <a:tr h="12649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☑️ </a:t>
                      </a:r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Make Regional Mechanisms Usable: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Adopt standard protocols, timelines, and snap-back clauses in RTAs.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🏛️ </a:t>
                      </a:r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Restore WTO Appellate Function:</a:t>
                      </a: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Crucial for small states to ensure uniform jurisprudence and prevent defection by large players.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765487"/>
                  </a:ext>
                </a:extLst>
              </a:tr>
              <a:tr h="12649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☑️ </a:t>
                      </a:r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Pre-commit to Filing Triggers:</a:t>
                      </a: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Use internal guidelines to reduce politically motivated delays.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🔄 </a:t>
                      </a:r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Integrate Trade &amp; Diplomacy Strategy:</a:t>
                      </a: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Diversify export markets to reduce vulnerability and leverage political tracks alongside legal ones.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614073"/>
                  </a:ext>
                </a:extLst>
              </a:tr>
              <a:tr h="9092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☑️ </a:t>
                      </a:r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Invest in Legal Capacity: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Build "evidence vaults" and utilize advisory </a:t>
                      </a:r>
                      <a:r>
                        <a:rPr lang="en-ID" sz="2000" dirty="0" err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centers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14678"/>
                  </a:ext>
                </a:extLst>
              </a:tr>
              <a:tr h="9092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☑️ </a:t>
                      </a:r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Build Coalitions:</a:t>
                      </a: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 Pool resources for joint stances (e.g., ACP, ASEAN).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ill Sans Nova Light" panose="020F0302020204030204" pitchFamily="34" charset="0"/>
                        <a:cs typeface="Gill Sans Nova Light" panose="020F03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66806"/>
                  </a:ext>
                </a:extLst>
              </a:tr>
            </a:tbl>
          </a:graphicData>
        </a:graphic>
      </p:graphicFrame>
      <p:pic>
        <p:nvPicPr>
          <p:cNvPr id="5" name="Picture 4" descr="NUS Lee Kuan Yew School of Public Policy - Postgrad">
            <a:extLst>
              <a:ext uri="{FF2B5EF4-FFF2-40B4-BE49-F238E27FC236}">
                <a16:creationId xmlns:a16="http://schemas.microsoft.com/office/drawing/2014/main" id="{48DE3D99-512C-9244-ED82-8280D38235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9408841" y="623824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032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837E-467C-1F6E-A6C4-F4A4AADE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9236"/>
          </a:xfrm>
        </p:spPr>
        <p:txBody>
          <a:bodyPr>
            <a:normAutofit/>
          </a:bodyPr>
          <a:lstStyle/>
          <a:p>
            <a:r>
              <a:rPr lang="en-ID" sz="3200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Key Takeaways</a:t>
            </a:r>
            <a:endParaRPr lang="en-US" sz="3200" b="1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5CF58-33D2-BB54-16AB-245CD2245DAC}"/>
              </a:ext>
            </a:extLst>
          </p:cNvPr>
          <p:cNvSpPr txBox="1"/>
          <p:nvPr/>
        </p:nvSpPr>
        <p:spPr>
          <a:xfrm>
            <a:off x="838200" y="1030661"/>
            <a:ext cx="8290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Geopolitics shrinks the "legal space" for dispute settlement.</a:t>
            </a:r>
            <a:endParaRPr lang="en-US" sz="2400" dirty="0"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6AB35741-5818-608C-817C-D39204A81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500507"/>
              </p:ext>
            </p:extLst>
          </p:nvPr>
        </p:nvGraphicFramePr>
        <p:xfrm>
          <a:off x="838200" y="1910754"/>
          <a:ext cx="9639925" cy="3916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NUS Lee Kuan Yew School of Public Policy - Postgrad">
            <a:extLst>
              <a:ext uri="{FF2B5EF4-FFF2-40B4-BE49-F238E27FC236}">
                <a16:creationId xmlns:a16="http://schemas.microsoft.com/office/drawing/2014/main" id="{8D42E5C0-E604-1BBD-558E-C68DDF6608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3" t="36238" r="10501" b="38358"/>
          <a:stretch>
            <a:fillRect/>
          </a:stretch>
        </p:blipFill>
        <p:spPr bwMode="auto">
          <a:xfrm>
            <a:off x="144919" y="6238253"/>
            <a:ext cx="2377440" cy="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201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0AB9-B838-62C8-2D15-BBA434C38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92777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2A186E6-A547-AD5D-9361-B6B9D90F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988" y="499342"/>
            <a:ext cx="91140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Appendix 1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. IDN–EU palm oil: HS1511 trade trend + event markers.</a:t>
            </a:r>
            <a:endParaRPr kumimoji="0" lang="en-US" altLang="en-US" sz="1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22529" name="Picture 7">
            <a:extLst>
              <a:ext uri="{FF2B5EF4-FFF2-40B4-BE49-F238E27FC236}">
                <a16:creationId xmlns:a16="http://schemas.microsoft.com/office/drawing/2014/main" id="{E393F490-480A-B521-0D1E-0A4794211D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7"/>
          <a:stretch>
            <a:fillRect/>
          </a:stretch>
        </p:blipFill>
        <p:spPr bwMode="auto">
          <a:xfrm>
            <a:off x="1903387" y="1298713"/>
            <a:ext cx="8385226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4DAED94-033D-D6D5-9873-F4E3CC18E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397" y="5546035"/>
            <a:ext cx="832519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Note.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Series shows EU imports of Indonesian palm oil over the period displayed (value in USD as labelled). Vertical markers denote: policy trigger (RED II/Delegated Regulation—high-ILUC classification),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WTO consultations, panel establishment, panel report circulation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DSB adoption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. Where both value and volume are shown, value is plotted on the right axis and volume on the left.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12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0B27425-9BB3-1488-81DC-66B99F4C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962" y="600498"/>
            <a:ext cx="63386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Appendix 2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. </a:t>
            </a:r>
            <a:r>
              <a:rPr lang="en-ID" sz="2000" dirty="0">
                <a:latin typeface="Gill Sans Nova Light" panose="020F0302020204030204" pitchFamily="34" charset="0"/>
                <a:cs typeface="Gill Sans Nova Light" panose="020F0302020204030204" pitchFamily="34" charset="0"/>
              </a:rPr>
              <a:t>Timeline: USA-India Solar Trade &amp; Disputes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.</a:t>
            </a:r>
            <a:endParaRPr kumimoji="0" lang="en-US" altLang="en-US" sz="1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23553" name="Picture 8">
            <a:extLst>
              <a:ext uri="{FF2B5EF4-FFF2-40B4-BE49-F238E27FC236}">
                <a16:creationId xmlns:a16="http://schemas.microsoft.com/office/drawing/2014/main" id="{A022D87D-27D5-A26A-2519-2CFDC82AD8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2"/>
          <a:stretch>
            <a:fillRect/>
          </a:stretch>
        </p:blipFill>
        <p:spPr bwMode="auto">
          <a:xfrm>
            <a:off x="1583960" y="1311749"/>
            <a:ext cx="9024079" cy="423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91176BA-01AE-A3CD-DE86-1B93406EA8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4557" y="5641948"/>
            <a:ext cx="103332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Note.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Series shows U.S. imports of solar cells/modules from India over the period displayed (value in USD; optionally volume if included). Vertical markers denote: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WTO consultations, panel establishment, panel report, AB report/adoption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, and, for context,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2018 U.S. safeguard (Section 201).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Where both value and volume are shown, value is on the right axis, volume on the left.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905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B1F51CE-F515-7CE7-91E2-F0918A0FC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847" y="538578"/>
            <a:ext cx="70342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Appendix 3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. PHL–CHN bananas: HS0803 trend + maritime frictions.</a:t>
            </a:r>
            <a:endParaRPr kumimoji="0" lang="en-US" altLang="en-US" sz="1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pic>
        <p:nvPicPr>
          <p:cNvPr id="24577" name="Picture 16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CA34CB20-7C25-B557-39BA-8C71C056B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81"/>
          <a:stretch>
            <a:fillRect/>
          </a:stretch>
        </p:blipFill>
        <p:spPr bwMode="auto">
          <a:xfrm>
            <a:off x="1255017" y="1401580"/>
            <a:ext cx="9681963" cy="405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DA87008-F31F-A7DF-536A-285FD1DA5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289" y="5674176"/>
            <a:ext cx="100334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Note.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Circle-line = export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value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(FOB, US$ millions); square-line = export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volume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tonnes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).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shaded band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marks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Scarborough Shoal/SPS inspections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window (Apr–Jun 2012).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Dashed lines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mark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UNCLOS award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(12 July 2016) and the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 October 2016 diplomatic thaw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. Data are annual; volume is derived from net weight (kg) and converted to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tonnes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854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81FC45-77A0-D066-C5DD-78448DE95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12474"/>
              </p:ext>
            </p:extLst>
          </p:nvPr>
        </p:nvGraphicFramePr>
        <p:xfrm>
          <a:off x="887894" y="905018"/>
          <a:ext cx="10416209" cy="44397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94992">
                  <a:extLst>
                    <a:ext uri="{9D8B030D-6E8A-4147-A177-3AD203B41FA5}">
                      <a16:colId xmlns:a16="http://schemas.microsoft.com/office/drawing/2014/main" val="817918587"/>
                    </a:ext>
                  </a:extLst>
                </a:gridCol>
                <a:gridCol w="808502">
                  <a:extLst>
                    <a:ext uri="{9D8B030D-6E8A-4147-A177-3AD203B41FA5}">
                      <a16:colId xmlns:a16="http://schemas.microsoft.com/office/drawing/2014/main" val="1685721001"/>
                    </a:ext>
                  </a:extLst>
                </a:gridCol>
                <a:gridCol w="962711">
                  <a:extLst>
                    <a:ext uri="{9D8B030D-6E8A-4147-A177-3AD203B41FA5}">
                      <a16:colId xmlns:a16="http://schemas.microsoft.com/office/drawing/2014/main" val="55640855"/>
                    </a:ext>
                  </a:extLst>
                </a:gridCol>
                <a:gridCol w="1751817">
                  <a:extLst>
                    <a:ext uri="{9D8B030D-6E8A-4147-A177-3AD203B41FA5}">
                      <a16:colId xmlns:a16="http://schemas.microsoft.com/office/drawing/2014/main" val="1874633445"/>
                    </a:ext>
                  </a:extLst>
                </a:gridCol>
                <a:gridCol w="1972767">
                  <a:extLst>
                    <a:ext uri="{9D8B030D-6E8A-4147-A177-3AD203B41FA5}">
                      <a16:colId xmlns:a16="http://schemas.microsoft.com/office/drawing/2014/main" val="1717518887"/>
                    </a:ext>
                  </a:extLst>
                </a:gridCol>
                <a:gridCol w="1925420">
                  <a:extLst>
                    <a:ext uri="{9D8B030D-6E8A-4147-A177-3AD203B41FA5}">
                      <a16:colId xmlns:a16="http://schemas.microsoft.com/office/drawing/2014/main" val="2886261123"/>
                    </a:ext>
                  </a:extLst>
                </a:gridCol>
              </a:tblGrid>
              <a:tr h="1248347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 dirty="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Model</a:t>
                      </a:r>
                      <a:endParaRPr lang="en-ID" sz="1600" dirty="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N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R²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 dirty="0" err="1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const</a:t>
                      </a:r>
                      <a:endParaRPr lang="en-ID" sz="1600" dirty="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 dirty="0" err="1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gpr_spread</a:t>
                      </a:r>
                      <a:endParaRPr lang="en-ID" sz="1600" dirty="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 dirty="0" err="1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align_diff_usa</a:t>
                      </a:r>
                      <a:endParaRPr lang="en-ID" sz="1600" dirty="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extLst>
                  <a:ext uri="{0D108BD9-81ED-4DB2-BD59-A6C34878D82A}">
                    <a16:rowId xmlns:a16="http://schemas.microsoft.com/office/drawing/2014/main" val="228321424"/>
                  </a:ext>
                </a:extLst>
              </a:tr>
              <a:tr h="508274">
                <a:tc>
                  <a:txBody>
                    <a:bodyPr/>
                    <a:lstStyle/>
                    <a:p>
                      <a:pPr algn="jus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(1) ln(days) ~ GPR spread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5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0.100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10.530 (2.226)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−0.024 (0.013)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—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extLst>
                  <a:ext uri="{0D108BD9-81ED-4DB2-BD59-A6C34878D82A}">
                    <a16:rowId xmlns:a16="http://schemas.microsoft.com/office/drawing/2014/main" val="508679944"/>
                  </a:ext>
                </a:extLst>
              </a:tr>
              <a:tr h="1248347">
                <a:tc>
                  <a:txBody>
                    <a:bodyPr/>
                    <a:lstStyle/>
                    <a:p>
                      <a:pPr algn="jus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(2) ln(days) ~ alignment diff (USA)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5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0.020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3.029 (4.787)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—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2.930 (6.506)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extLst>
                  <a:ext uri="{0D108BD9-81ED-4DB2-BD59-A6C34878D82A}">
                    <a16:rowId xmlns:a16="http://schemas.microsoft.com/office/drawing/2014/main" val="2247559240"/>
                  </a:ext>
                </a:extLst>
              </a:tr>
              <a:tr h="1434822">
                <a:tc>
                  <a:txBody>
                    <a:bodyPr/>
                    <a:lstStyle/>
                    <a:p>
                      <a:pPr algn="jus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 dirty="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(3) ln(days) ~ GPR spread + alignment diff</a:t>
                      </a:r>
                      <a:endParaRPr lang="en-ID" sz="1600" dirty="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5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0.146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22.007 (44.062)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−0.048 (0.101)</a:t>
                      </a:r>
                      <a:endParaRPr lang="en-ID" sz="160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D" sz="1600" dirty="0">
                          <a:effectLst/>
                          <a:latin typeface="Gill Sans Nova Light" panose="020F0302020204030204" pitchFamily="34" charset="0"/>
                          <a:cs typeface="Gill Sans Nova Light" panose="020F0302020204030204" pitchFamily="34" charset="0"/>
                        </a:rPr>
                        <a:t>−7.904 (28.744)</a:t>
                      </a:r>
                      <a:endParaRPr lang="en-ID" sz="1600" dirty="0">
                        <a:effectLst/>
                        <a:latin typeface="Gill Sans Nova Light" panose="020F0302020204030204" pitchFamily="34" charset="0"/>
                        <a:ea typeface="Cambria" panose="02040503050406030204" pitchFamily="18" charset="0"/>
                        <a:cs typeface="Gill Sans Nova Light" panose="020F0302020204030204" pitchFamily="34" charset="0"/>
                      </a:endParaRPr>
                    </a:p>
                  </a:txBody>
                  <a:tcPr marL="63458" marR="63458" marT="63458" marB="63458" anchor="ctr"/>
                </a:tc>
                <a:extLst>
                  <a:ext uri="{0D108BD9-81ED-4DB2-BD59-A6C34878D82A}">
                    <a16:rowId xmlns:a16="http://schemas.microsoft.com/office/drawing/2014/main" val="71744437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52009D1-AF80-531C-0C92-E38EB13D2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737" y="320090"/>
            <a:ext cx="8006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Appendix 4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Nova Light" panose="020F0302020204030204" pitchFamily="34" charset="0"/>
                <a:ea typeface="Cambria" panose="02040503050406030204" pitchFamily="18" charset="0"/>
                <a:cs typeface="Gill Sans Nova Light" panose="020F0302020204030204" pitchFamily="34" charset="0"/>
              </a:rPr>
              <a:t>. Event-timing regressions (Supportive Exploratory Evidence).</a:t>
            </a:r>
            <a:endParaRPr kumimoji="0" lang="en-US" altLang="en-US" sz="1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E0FF74-08B7-5EEE-E613-95DAE749E7E5}"/>
              </a:ext>
            </a:extLst>
          </p:cNvPr>
          <p:cNvSpPr txBox="1"/>
          <p:nvPr/>
        </p:nvSpPr>
        <p:spPr>
          <a:xfrm>
            <a:off x="988388" y="5529626"/>
            <a:ext cx="10215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Gill Sans Nova Light" panose="020F0302020204030204" pitchFamily="34" charset="0"/>
              </a:rPr>
              <a:t>Notes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Gill Sans Nova Light" panose="020F030202020403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Gill Sans Nova Light" panose="020F0302020204030204" pitchFamily="34" charset="0"/>
              </a:rPr>
              <a:t> DV = ln(days between WTO milestones). Robust (HC1) SEs in parentheses. ‘—’ denotes a regressor not included in that specification. Covariates measured at the start of each interval: GPR spread (Caldara–Iacoviello GPR) and UNGA alignment (USA) difference (Bailey–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Gill Sans Nova Light" panose="020F0302020204030204" pitchFamily="34" charset="0"/>
              </a:rPr>
              <a:t>Strezhnev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Gill Sans Nova Light" panose="020F0302020204030204" pitchFamily="34" charset="0"/>
              </a:rPr>
              <a:t>–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Gill Sans Nova Light" panose="020F0302020204030204" pitchFamily="34" charset="0"/>
              </a:rPr>
              <a:t>Voeten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Gill Sans Nova Light" panose="020F0302020204030204" pitchFamily="34" charset="0"/>
              </a:rPr>
              <a:t>). WTO milestones follow consultations → panel → (AB) → adoption.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Nova Light" panose="020F0302020204030204" pitchFamily="34" charset="0"/>
              <a:cs typeface="Gill Sans Nova Light" panose="020F03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0B795D-4393-F44F-BEF1-D0353A04E624}"/>
              </a:ext>
            </a:extLst>
          </p:cNvPr>
          <p:cNvSpPr/>
          <p:nvPr/>
        </p:nvSpPr>
        <p:spPr>
          <a:xfrm>
            <a:off x="9303026" y="2955235"/>
            <a:ext cx="1590261" cy="64935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69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</TotalTime>
  <Words>1771</Words>
  <Application>Microsoft Macintosh PowerPoint</Application>
  <PresentationFormat>Widescreen</PresentationFormat>
  <Paragraphs>209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Gill Sans Nova Light</vt:lpstr>
      <vt:lpstr>Wingdings</vt:lpstr>
      <vt:lpstr>Office Theme</vt:lpstr>
      <vt:lpstr>Shrinking Space for WTO Dispute Settlement: Geopolitics, Forum Shopping, and Lessons for Developing Economies</vt:lpstr>
      <vt:lpstr>Table of Contents</vt:lpstr>
      <vt:lpstr>The Context: A "Shrinking Legal Space”</vt:lpstr>
      <vt:lpstr>When the multilateral system stalls, weaker members face a strategic dilemma.</vt:lpstr>
      <vt:lpstr>Theoretical Framework &amp; Propositions</vt:lpstr>
      <vt:lpstr>Methodology &amp; Data Toolkit</vt:lpstr>
      <vt:lpstr>Case Evidence Overview: A Tale of Three Disputes</vt:lpstr>
      <vt:lpstr>Case 1 Analysis: Indonesia-EU (Palm Oil)</vt:lpstr>
      <vt:lpstr>Case 2 Analysis: USA-India (Solar)</vt:lpstr>
      <vt:lpstr>Case 3 Analysis: Philippines-China (Bananas)</vt:lpstr>
      <vt:lpstr>Results Synthesis &amp; Mechanisms</vt:lpstr>
      <vt:lpstr>Policy Implications for Developing Economies</vt:lpstr>
      <vt:lpstr>Key Takeaways</vt:lpstr>
      <vt:lpstr>Appendix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Krisnadi, MuhammadFaiz</dc:creator>
  <cp:lastModifiedBy>Krisnadi, MuhammadFaiz</cp:lastModifiedBy>
  <cp:revision>11</cp:revision>
  <dcterms:created xsi:type="dcterms:W3CDTF">2025-12-01T23:00:46Z</dcterms:created>
  <dcterms:modified xsi:type="dcterms:W3CDTF">2025-12-03T16:07:33Z</dcterms:modified>
</cp:coreProperties>
</file>